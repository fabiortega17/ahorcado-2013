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2" r:id="rId4"/>
    <p:sldId id="261" r:id="rId5"/>
    <p:sldId id="265" r:id="rId6"/>
    <p:sldId id="264" r:id="rId7"/>
    <p:sldId id="263" r:id="rId8"/>
    <p:sldId id="269" r:id="rId9"/>
    <p:sldId id="270" r:id="rId10"/>
    <p:sldId id="266" r:id="rId11"/>
    <p:sldId id="267" r:id="rId12"/>
    <p:sldId id="268" r:id="rId13"/>
    <p:sldId id="260" r:id="rId14"/>
    <p:sldId id="271" r:id="rId15"/>
    <p:sldId id="259" r:id="rId16"/>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9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1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7016D4CB-9031-4804-B803-78E6C2A7FBBF}" type="datetimeFigureOut">
              <a:rPr lang="es-CO" smtClean="0"/>
              <a:t>29/11/2013</a:t>
            </a:fld>
            <a:endParaRPr lang="es-CO"/>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s-CO"/>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C2612AF8-11BB-4CCE-89DE-873AA77FC1FB}" type="slidenum">
              <a:rPr lang="es-CO" smtClean="0"/>
              <a:t>‹Nº›</a:t>
            </a:fld>
            <a:endParaRPr lang="es-CO"/>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016D4CB-9031-4804-B803-78E6C2A7FBBF}" type="datetimeFigureOut">
              <a:rPr lang="es-CO" smtClean="0"/>
              <a:t>29/11/2013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7016D4CB-9031-4804-B803-78E6C2A7FBBF}" type="datetimeFigureOut">
              <a:rPr lang="es-CO" smtClean="0"/>
              <a:t>29/11/2013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7016D4CB-9031-4804-B803-78E6C2A7FBBF}" type="datetimeFigureOut">
              <a:rPr lang="es-CO" smtClean="0"/>
              <a:t>29/11/2013</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2612AF8-11BB-4CCE-89DE-873AA77FC1FB}" type="slidenum">
              <a:rPr lang="es-CO" smtClean="0"/>
              <a:t>‹Nº›</a:t>
            </a:fld>
            <a:endParaRPr lang="es-CO"/>
          </a:p>
        </p:txBody>
      </p:sp>
      <p:sp>
        <p:nvSpPr>
          <p:cNvPr id="9" name="Content Placeholder 8"/>
          <p:cNvSpPr>
            <a:spLocks noGrp="1"/>
          </p:cNvSpPr>
          <p:nvPr>
            <p:ph sz="quarter" idx="13"/>
          </p:nvPr>
        </p:nvSpPr>
        <p:spPr>
          <a:xfrm>
            <a:off x="1042416" y="2313432"/>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7016D4CB-9031-4804-B803-78E6C2A7FBBF}" type="datetimeFigureOut">
              <a:rPr lang="es-CO" smtClean="0"/>
              <a:t>29/11/2013</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7016D4CB-9031-4804-B803-78E6C2A7FBBF}" type="datetimeFigureOut">
              <a:rPr lang="es-CO" smtClean="0"/>
              <a:t>29/11/2013</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16D4CB-9031-4804-B803-78E6C2A7FBBF}" type="datetimeFigureOut">
              <a:rPr lang="es-CO" smtClean="0"/>
              <a:t>29/11/2013</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016D4CB-9031-4804-B803-78E6C2A7FBBF}" type="datetimeFigureOut">
              <a:rPr lang="es-CO" smtClean="0"/>
              <a:t>29/11/2013</a:t>
            </a:fld>
            <a:endParaRPr lang="es-CO"/>
          </a:p>
        </p:txBody>
      </p:sp>
      <p:sp>
        <p:nvSpPr>
          <p:cNvPr id="7" name="Slide Number Placeholder 6"/>
          <p:cNvSpPr>
            <a:spLocks noGrp="1"/>
          </p:cNvSpPr>
          <p:nvPr>
            <p:ph type="sldNum" sz="quarter" idx="12"/>
          </p:nvPr>
        </p:nvSpPr>
        <p:spPr/>
        <p:txBody>
          <a:bodyPr/>
          <a:lstStyle/>
          <a:p>
            <a:fld id="{C2612AF8-11BB-4CCE-89DE-873AA77FC1FB}" type="slidenum">
              <a:rPr lang="es-CO" smtClean="0"/>
              <a:t>‹Nº›</a:t>
            </a:fld>
            <a:endParaRPr lang="es-CO"/>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CO"/>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s-ES" smtClean="0"/>
              <a:t>Haga clic para modificar el estilo de título del patrón</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7016D4CB-9031-4804-B803-78E6C2A7FBBF}" type="datetimeFigureOut">
              <a:rPr lang="es-CO" smtClean="0"/>
              <a:t>29/11/2013</a:t>
            </a:fld>
            <a:endParaRPr lang="es-CO"/>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CO"/>
          </a:p>
        </p:txBody>
      </p:sp>
      <p:sp>
        <p:nvSpPr>
          <p:cNvPr id="7" name="Slide Number Placeholder 6"/>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7016D4CB-9031-4804-B803-78E6C2A7FBBF}" type="datetimeFigureOut">
              <a:rPr lang="es-CO" smtClean="0"/>
              <a:t>29/11/2013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7016D4CB-9031-4804-B803-78E6C2A7FBBF}" type="datetimeFigureOut">
              <a:rPr lang="es-CO" smtClean="0"/>
              <a:t>29/11/2013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2612AF8-11BB-4CCE-89DE-873AA77FC1FB}"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7016D4CB-9031-4804-B803-78E6C2A7FBBF}" type="datetimeFigureOut">
              <a:rPr lang="es-CO" smtClean="0"/>
              <a:t>29/11/2013</a:t>
            </a:fld>
            <a:endParaRPr lang="es-CO"/>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s-CO"/>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C2612AF8-11BB-4CCE-89DE-873AA77FC1FB}"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logo_unicesa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560" y="404664"/>
            <a:ext cx="2736304" cy="999208"/>
          </a:xfrm>
          <a:prstGeom prst="rect">
            <a:avLst/>
          </a:prstGeom>
        </p:spPr>
      </p:pic>
      <p:sp>
        <p:nvSpPr>
          <p:cNvPr id="5" name="4 CuadroTexto"/>
          <p:cNvSpPr txBox="1"/>
          <p:nvPr/>
        </p:nvSpPr>
        <p:spPr>
          <a:xfrm>
            <a:off x="1028713" y="1556792"/>
            <a:ext cx="7488832" cy="646331"/>
          </a:xfrm>
          <a:prstGeom prst="rect">
            <a:avLst/>
          </a:prstGeom>
          <a:noFill/>
        </p:spPr>
        <p:txBody>
          <a:bodyPr wrap="square" rtlCol="0">
            <a:spAutoFit/>
          </a:bodyPr>
          <a:lstStyle/>
          <a:p>
            <a:pPr algn="ctr"/>
            <a:r>
              <a:rPr lang="es-CO" sz="3600" b="1" dirty="0" smtClean="0">
                <a:solidFill>
                  <a:schemeClr val="accent3"/>
                </a:solidFill>
                <a:effectLst>
                  <a:outerShdw blurRad="38100" dist="38100" dir="2700000" algn="tl">
                    <a:srgbClr val="000000">
                      <a:alpha val="43137"/>
                    </a:srgbClr>
                  </a:outerShdw>
                </a:effectLst>
                <a:latin typeface="Arial Narrow" pitchFamily="34" charset="0"/>
              </a:rPr>
              <a:t>JUEGO </a:t>
            </a:r>
            <a:r>
              <a:rPr lang="es-CO" sz="3600" b="1" dirty="0">
                <a:solidFill>
                  <a:schemeClr val="accent3"/>
                </a:solidFill>
                <a:effectLst>
                  <a:outerShdw blurRad="38100" dist="38100" dir="2700000" algn="tl">
                    <a:srgbClr val="000000">
                      <a:alpha val="43137"/>
                    </a:srgbClr>
                  </a:outerShdw>
                </a:effectLst>
                <a:latin typeface="Arial Narrow" pitchFamily="34" charset="0"/>
              </a:rPr>
              <a:t>D</a:t>
            </a:r>
            <a:r>
              <a:rPr lang="es-CO" sz="3600" b="1" dirty="0" smtClean="0">
                <a:solidFill>
                  <a:schemeClr val="accent3"/>
                </a:solidFill>
                <a:effectLst>
                  <a:outerShdw blurRad="38100" dist="38100" dir="2700000" algn="tl">
                    <a:srgbClr val="000000">
                      <a:alpha val="43137"/>
                    </a:srgbClr>
                  </a:outerShdw>
                </a:effectLst>
                <a:latin typeface="Arial Narrow" pitchFamily="34" charset="0"/>
              </a:rPr>
              <a:t>EL AHORCADO EN DEV C++</a:t>
            </a:r>
            <a:endParaRPr lang="es-CO" sz="3600" b="1" dirty="0">
              <a:solidFill>
                <a:schemeClr val="accent3"/>
              </a:solidFill>
              <a:effectLst>
                <a:outerShdw blurRad="38100" dist="38100" dir="2700000" algn="tl">
                  <a:srgbClr val="000000">
                    <a:alpha val="43137"/>
                  </a:srgbClr>
                </a:outerShdw>
              </a:effectLst>
              <a:latin typeface="Arial Narrow" pitchFamily="34" charset="0"/>
            </a:endParaRPr>
          </a:p>
        </p:txBody>
      </p:sp>
      <p:sp>
        <p:nvSpPr>
          <p:cNvPr id="6" name="5 CuadroTexto"/>
          <p:cNvSpPr txBox="1"/>
          <p:nvPr/>
        </p:nvSpPr>
        <p:spPr>
          <a:xfrm>
            <a:off x="1757613" y="3068960"/>
            <a:ext cx="5976664" cy="3416320"/>
          </a:xfrm>
          <a:prstGeom prst="rect">
            <a:avLst/>
          </a:prstGeom>
          <a:noFill/>
        </p:spPr>
        <p:txBody>
          <a:bodyPr wrap="square" rtlCol="0">
            <a:spAutoFit/>
          </a:bodyPr>
          <a:lstStyle/>
          <a:p>
            <a:pPr algn="ctr"/>
            <a:r>
              <a:rPr lang="es-CO" sz="2400" b="1" dirty="0" smtClean="0"/>
              <a:t>FABIO ENRIQUE ORTEGA OTALVAREZ</a:t>
            </a:r>
          </a:p>
          <a:p>
            <a:pPr algn="ctr"/>
            <a:r>
              <a:rPr lang="es-CO" sz="2400" b="1" dirty="0" smtClean="0"/>
              <a:t>IVÁN CAMILO </a:t>
            </a:r>
            <a:r>
              <a:rPr lang="es-CO" sz="2400" b="1" dirty="0" smtClean="0"/>
              <a:t>SANCHEZ </a:t>
            </a:r>
            <a:r>
              <a:rPr lang="es-CO" sz="2400" b="1" dirty="0"/>
              <a:t>VEGA</a:t>
            </a:r>
            <a:endParaRPr lang="es-CO" sz="2400" b="1" dirty="0" smtClean="0"/>
          </a:p>
          <a:p>
            <a:pPr algn="ctr"/>
            <a:endParaRPr lang="es-CO" sz="2400" b="1" dirty="0" smtClean="0"/>
          </a:p>
          <a:p>
            <a:pPr algn="ctr"/>
            <a:endParaRPr lang="es-CO" sz="2400" b="1" dirty="0" smtClean="0"/>
          </a:p>
          <a:p>
            <a:pPr algn="ctr"/>
            <a:endParaRPr lang="es-CO" sz="2400" b="1" dirty="0"/>
          </a:p>
          <a:p>
            <a:pPr algn="ctr"/>
            <a:endParaRPr lang="es-CO" sz="2400" b="1" dirty="0" smtClean="0"/>
          </a:p>
          <a:p>
            <a:pPr algn="ctr"/>
            <a:r>
              <a:rPr lang="es-MX" sz="2400" b="1" dirty="0" smtClean="0"/>
              <a:t>ING. JAIRO FRANCISCO SEOANES LEON</a:t>
            </a:r>
            <a:endParaRPr lang="es-CO" sz="2400" b="1" dirty="0" smtClean="0"/>
          </a:p>
          <a:p>
            <a:pPr algn="ctr"/>
            <a:r>
              <a:rPr lang="es-CO" sz="2400" b="1" dirty="0" smtClean="0"/>
              <a:t>(Docente)</a:t>
            </a:r>
          </a:p>
          <a:p>
            <a:pPr algn="ctr"/>
            <a:endParaRPr lang="es-CO" sz="2400" b="1" dirty="0" smtClean="0"/>
          </a:p>
        </p:txBody>
      </p:sp>
    </p:spTree>
    <p:extLst>
      <p:ext uri="{BB962C8B-B14F-4D97-AF65-F5344CB8AC3E}">
        <p14:creationId xmlns:p14="http://schemas.microsoft.com/office/powerpoint/2010/main" val="39076336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99204" y="404664"/>
            <a:ext cx="3528392" cy="646331"/>
          </a:xfrm>
          <a:prstGeom prst="rect">
            <a:avLst/>
          </a:prstGeom>
          <a:noFill/>
        </p:spPr>
        <p:txBody>
          <a:bodyPr wrap="square" rtlCol="0">
            <a:spAutoFit/>
          </a:bodyPr>
          <a:lstStyle/>
          <a:p>
            <a:r>
              <a:rPr lang="es-CO" sz="36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EL AHORCADO </a:t>
            </a:r>
            <a:endParaRPr lang="es-CO"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
          <a:stretch/>
        </p:blipFill>
        <p:spPr bwMode="auto">
          <a:xfrm>
            <a:off x="755576" y="3298800"/>
            <a:ext cx="2928031" cy="3061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4127595" y="1239509"/>
            <a:ext cx="4453647"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b="1" dirty="0" smtClean="0"/>
              <a:t>El juego del ahorcado realizado en Dev C++ en este juego el jugador podrá descifrar o adivinar una palabra que estará ordenada por el programa también tendrá con un límite de intentos para poder responder o adivinar la palabra correcta este programa se iniciara con un menú que le permitirá al jugador seleccionar unas opciones como jugar, genero de palabras, ver puntaje, salir si le das jugar te aparecerá una ventana donde el juego mostrara el grafico del ahorcado y se va completando el muñequito, este diseño se hará  utilizando la librería: </a:t>
            </a:r>
          </a:p>
          <a:p>
            <a:pPr marL="285750" indent="-285750" algn="ctr">
              <a:buFont typeface="Wingdings" pitchFamily="2" charset="2"/>
              <a:buChar char="v"/>
            </a:pPr>
            <a:r>
              <a:rPr lang="es-CO" b="1" dirty="0" smtClean="0"/>
              <a:t>#</a:t>
            </a:r>
            <a:r>
              <a:rPr lang="es-CO" b="1" dirty="0" err="1" smtClean="0"/>
              <a:t>include</a:t>
            </a:r>
            <a:r>
              <a:rPr lang="es-CO" b="1" dirty="0" smtClean="0"/>
              <a:t> &lt;</a:t>
            </a:r>
            <a:r>
              <a:rPr lang="es-CO" b="1" dirty="0" err="1" smtClean="0"/>
              <a:t>winbgim.h</a:t>
            </a:r>
            <a:r>
              <a:rPr lang="es-CO" b="1" dirty="0" smtClean="0"/>
              <a:t>&gt;</a:t>
            </a:r>
          </a:p>
        </p:txBody>
      </p:sp>
      <p:pic>
        <p:nvPicPr>
          <p:cNvPr id="1027"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44206" y="1484784"/>
            <a:ext cx="3497532"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33641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67544" y="407132"/>
            <a:ext cx="4332836" cy="584775"/>
          </a:xfrm>
          <a:prstGeom prst="rect">
            <a:avLst/>
          </a:prstGeom>
          <a:noFill/>
        </p:spPr>
        <p:txBody>
          <a:bodyPr wrap="square" rtlCol="0">
            <a:spAutoFit/>
          </a:bodyPr>
          <a:lstStyle/>
          <a:p>
            <a:r>
              <a:rPr lang="es-CO" sz="3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Librerías utilizadas</a:t>
            </a:r>
            <a:endParaRPr lang="es-CO" sz="3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512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11560" y="1722197"/>
            <a:ext cx="4525925" cy="4017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3 Conector recto de flecha"/>
          <p:cNvCxnSpPr>
            <a:endCxn id="10" idx="1"/>
          </p:cNvCxnSpPr>
          <p:nvPr/>
        </p:nvCxnSpPr>
        <p:spPr>
          <a:xfrm flipV="1">
            <a:off x="4644008" y="1988838"/>
            <a:ext cx="1301373" cy="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7" name="6 Conector recto de flecha"/>
          <p:cNvCxnSpPr/>
          <p:nvPr/>
        </p:nvCxnSpPr>
        <p:spPr>
          <a:xfrm>
            <a:off x="4997850" y="2780928"/>
            <a:ext cx="947531"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8" name="7 CuadroTexto"/>
          <p:cNvSpPr txBox="1"/>
          <p:nvPr/>
        </p:nvSpPr>
        <p:spPr>
          <a:xfrm>
            <a:off x="5945381" y="2530778"/>
            <a:ext cx="2592288"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a:t>
            </a:r>
            <a:r>
              <a:rPr lang="es-CO" sz="1200" b="1" dirty="0"/>
              <a:t>librería nos sirve para diseñar gráficos, con esta librería </a:t>
            </a:r>
            <a:r>
              <a:rPr lang="es-CO" sz="1200" b="1" dirty="0" smtClean="0"/>
              <a:t>abriremos la pantalla grafica diseñaremos </a:t>
            </a:r>
            <a:r>
              <a:rPr lang="es-CO" sz="1200" b="1" dirty="0"/>
              <a:t>el muñequito que se va a llenar con el número de intentos fallidos si la palabra es correcta</a:t>
            </a:r>
          </a:p>
        </p:txBody>
      </p:sp>
      <p:sp>
        <p:nvSpPr>
          <p:cNvPr id="10" name="9 CuadroTexto"/>
          <p:cNvSpPr txBox="1"/>
          <p:nvPr/>
        </p:nvSpPr>
        <p:spPr>
          <a:xfrm>
            <a:off x="5945381" y="1665672"/>
            <a:ext cx="259228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a:t>
            </a:r>
            <a:r>
              <a:rPr lang="es-CO" sz="1200" b="1" dirty="0"/>
              <a:t>librería nos </a:t>
            </a:r>
            <a:r>
              <a:rPr lang="es-CO" sz="1200" b="1" dirty="0" smtClean="0"/>
              <a:t>sirve para crear los archivos que vamos a utilizar para guardar el puntaje.</a:t>
            </a:r>
            <a:endParaRPr lang="es-CO" sz="1200" b="1" dirty="0"/>
          </a:p>
        </p:txBody>
      </p:sp>
      <p:cxnSp>
        <p:nvCxnSpPr>
          <p:cNvPr id="34" name="33 Conector recto de flecha"/>
          <p:cNvCxnSpPr/>
          <p:nvPr/>
        </p:nvCxnSpPr>
        <p:spPr>
          <a:xfrm>
            <a:off x="4427984" y="4725144"/>
            <a:ext cx="1517397"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35" name="34 CuadroTexto"/>
          <p:cNvSpPr txBox="1"/>
          <p:nvPr/>
        </p:nvSpPr>
        <p:spPr>
          <a:xfrm>
            <a:off x="5968970" y="4494311"/>
            <a:ext cx="2592288"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a:t>
            </a:r>
            <a:r>
              <a:rPr lang="es-CO" sz="1200" b="1" dirty="0"/>
              <a:t>librería nos sirve </a:t>
            </a:r>
            <a:r>
              <a:rPr lang="es-CO" sz="1200" b="1" dirty="0" smtClean="0"/>
              <a:t>para dar aleatoriedad a las palabras</a:t>
            </a:r>
            <a:endParaRPr lang="es-CO" sz="1200" b="1" dirty="0"/>
          </a:p>
        </p:txBody>
      </p:sp>
      <p:sp>
        <p:nvSpPr>
          <p:cNvPr id="38" name="37 CuadroTexto"/>
          <p:cNvSpPr txBox="1"/>
          <p:nvPr/>
        </p:nvSpPr>
        <p:spPr>
          <a:xfrm>
            <a:off x="4608165" y="5517232"/>
            <a:ext cx="3488035"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Algunas de estas librerías no </a:t>
            </a:r>
            <a:r>
              <a:rPr lang="es-CO" sz="1200" b="1" dirty="0"/>
              <a:t>son tan necesarias pero las pondremos para trabajar libremente el programa y sin complicaciones.</a:t>
            </a:r>
          </a:p>
        </p:txBody>
      </p:sp>
    </p:spTree>
    <p:extLst>
      <p:ext uri="{BB962C8B-B14F-4D97-AF65-F5344CB8AC3E}">
        <p14:creationId xmlns:p14="http://schemas.microsoft.com/office/powerpoint/2010/main" val="7858958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83568" y="1700808"/>
            <a:ext cx="7776864"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507404" y="695844"/>
            <a:ext cx="8129192" cy="584775"/>
          </a:xfrm>
          <a:prstGeom prst="rect">
            <a:avLst/>
          </a:prstGeom>
          <a:noFill/>
        </p:spPr>
        <p:txBody>
          <a:bodyPr wrap="square" rtlCol="0">
            <a:spAutoFit/>
          </a:bodyPr>
          <a:lstStyle/>
          <a:p>
            <a:r>
              <a:rPr lang="es-CO" sz="3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FUNCIONES IMPLEMENTAS </a:t>
            </a:r>
            <a:r>
              <a:rPr lang="es-CO" sz="3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EN EL</a:t>
            </a:r>
            <a:r>
              <a:rPr lang="es-CO" sz="3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es-CO" sz="3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JUEGO</a:t>
            </a:r>
            <a:endParaRPr lang="es-CO" sz="3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37085827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Flecha abajo"/>
          <p:cNvSpPr/>
          <p:nvPr/>
        </p:nvSpPr>
        <p:spPr>
          <a:xfrm>
            <a:off x="5221897" y="5026001"/>
            <a:ext cx="864096" cy="1488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4 Flecha abajo"/>
          <p:cNvSpPr/>
          <p:nvPr/>
        </p:nvSpPr>
        <p:spPr>
          <a:xfrm>
            <a:off x="2897813" y="5026001"/>
            <a:ext cx="864096" cy="1488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827584" y="692696"/>
            <a:ext cx="7272808"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530791" y="3471020"/>
            <a:ext cx="1592938"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1 – JUGAR</a:t>
            </a:r>
          </a:p>
          <a:p>
            <a:pPr algn="ctr"/>
            <a:endParaRPr lang="es-CO" sz="1200" b="1" dirty="0"/>
          </a:p>
          <a:p>
            <a:pPr algn="ctr"/>
            <a:r>
              <a:rPr lang="es-CO" sz="1200" b="1" dirty="0" smtClean="0"/>
              <a:t>Nos permite jugar por 1000 puntos con las letras de cualquier genero de forma aleatoria</a:t>
            </a:r>
            <a:endParaRPr lang="es-CO" sz="1200" b="1" dirty="0"/>
          </a:p>
          <a:p>
            <a:pPr algn="ctr"/>
            <a:endParaRPr lang="es-CO" sz="1200" b="1" dirty="0"/>
          </a:p>
        </p:txBody>
      </p:sp>
      <p:sp>
        <p:nvSpPr>
          <p:cNvPr id="4" name="3 CuadroTexto"/>
          <p:cNvSpPr txBox="1"/>
          <p:nvPr/>
        </p:nvSpPr>
        <p:spPr>
          <a:xfrm>
            <a:off x="2195735" y="3456341"/>
            <a:ext cx="226825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2 – GENERO DE PALABRAS</a:t>
            </a:r>
          </a:p>
          <a:p>
            <a:pPr algn="ctr"/>
            <a:endParaRPr lang="es-CO" sz="1200" b="1" dirty="0"/>
          </a:p>
          <a:p>
            <a:pPr algn="ctr"/>
            <a:r>
              <a:rPr lang="es-CO" sz="1200" b="1" dirty="0" smtClean="0"/>
              <a:t>Nos permite jugar por 500 puntos dándonos la opción de elegir el genero de palabras</a:t>
            </a:r>
          </a:p>
          <a:p>
            <a:pPr algn="ctr"/>
            <a:r>
              <a:rPr lang="es-CO" sz="1200" b="1" dirty="0" smtClean="0"/>
              <a:t>Que queremos utilizar también palabras aleatorias</a:t>
            </a:r>
            <a:endParaRPr lang="es-CO" sz="1200" b="1" dirty="0"/>
          </a:p>
        </p:txBody>
      </p:sp>
      <p:sp>
        <p:nvSpPr>
          <p:cNvPr id="7" name="6 CuadroTexto"/>
          <p:cNvSpPr txBox="1"/>
          <p:nvPr/>
        </p:nvSpPr>
        <p:spPr>
          <a:xfrm>
            <a:off x="4531929" y="3464279"/>
            <a:ext cx="2304000"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3 – VER PUNTAJE</a:t>
            </a:r>
          </a:p>
          <a:p>
            <a:pPr algn="ctr"/>
            <a:endParaRPr lang="es-CO" sz="1200" b="1" dirty="0" smtClean="0"/>
          </a:p>
          <a:p>
            <a:pPr algn="ctr"/>
            <a:r>
              <a:rPr lang="es-CO" sz="1200" b="1" dirty="0" smtClean="0"/>
              <a:t>Nos muestra un menú que nos permite elegir las opciones ejemplo: la opción 2 nos permite actualizar y ver los record que están archivados</a:t>
            </a:r>
            <a:endParaRPr lang="es-CO" sz="1200" b="1" dirty="0"/>
          </a:p>
        </p:txBody>
      </p:sp>
      <p:pic>
        <p:nvPicPr>
          <p:cNvPr id="7171"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746753" y="5174823"/>
            <a:ext cx="3602547" cy="127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6890339" y="3464279"/>
            <a:ext cx="1714110"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4 – SALIR</a:t>
            </a:r>
          </a:p>
          <a:p>
            <a:pPr algn="ctr"/>
            <a:endParaRPr lang="es-CO" sz="1200" b="1" dirty="0" smtClean="0"/>
          </a:p>
          <a:p>
            <a:pPr algn="ctr"/>
            <a:r>
              <a:rPr lang="es-CO" sz="1200" b="1" dirty="0" smtClean="0"/>
              <a:t>Nos permite guardar el puntaje actual en el archivo y actualizarlo si esta entre 5 los primeros mas altos</a:t>
            </a:r>
            <a:endParaRPr lang="es-CO" sz="1200" b="1" dirty="0"/>
          </a:p>
        </p:txBody>
      </p:sp>
      <p:sp>
        <p:nvSpPr>
          <p:cNvPr id="11" name="10 CuadroTexto"/>
          <p:cNvSpPr txBox="1"/>
          <p:nvPr/>
        </p:nvSpPr>
        <p:spPr>
          <a:xfrm>
            <a:off x="485545" y="260648"/>
            <a:ext cx="4824536" cy="523220"/>
          </a:xfrm>
          <a:prstGeom prst="rect">
            <a:avLst/>
          </a:prstGeom>
          <a:noFill/>
        </p:spPr>
        <p:txBody>
          <a:bodyPr wrap="square" rtlCol="0">
            <a:spAutoFit/>
          </a:bodyPr>
          <a:lstStyle/>
          <a:p>
            <a:r>
              <a:rPr lang="es-CO" sz="27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OPCIONES DEL MENÚ</a:t>
            </a:r>
            <a:endParaRPr lang="es-CO" sz="27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7172"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83567" y="5187727"/>
            <a:ext cx="3926927" cy="1258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134656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12143" y="1916832"/>
            <a:ext cx="5865740"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5004048" y="2636912"/>
            <a:ext cx="3384375"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función nos abre una pantalla grafica con las medidas especificadas</a:t>
            </a:r>
            <a:endParaRPr lang="es-CO" sz="1200" b="1" dirty="0"/>
          </a:p>
        </p:txBody>
      </p:sp>
      <p:sp>
        <p:nvSpPr>
          <p:cNvPr id="4" name="3 CuadroTexto"/>
          <p:cNvSpPr txBox="1"/>
          <p:nvPr/>
        </p:nvSpPr>
        <p:spPr>
          <a:xfrm>
            <a:off x="5004047" y="3433966"/>
            <a:ext cx="3384375"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función nos da el tamaño de las letras</a:t>
            </a:r>
            <a:endParaRPr lang="es-CO" sz="1200" b="1" dirty="0"/>
          </a:p>
        </p:txBody>
      </p:sp>
      <p:sp>
        <p:nvSpPr>
          <p:cNvPr id="5" name="4 CuadroTexto"/>
          <p:cNvSpPr txBox="1"/>
          <p:nvPr/>
        </p:nvSpPr>
        <p:spPr>
          <a:xfrm>
            <a:off x="5220072" y="5157192"/>
            <a:ext cx="3384375"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Estas nos muestran los textos dentro de la pantalla grafica</a:t>
            </a:r>
            <a:endParaRPr lang="es-CO" sz="1200" b="1" dirty="0"/>
          </a:p>
        </p:txBody>
      </p:sp>
      <p:cxnSp>
        <p:nvCxnSpPr>
          <p:cNvPr id="17" name="16 Conector recto de flecha"/>
          <p:cNvCxnSpPr>
            <a:endCxn id="3" idx="1"/>
          </p:cNvCxnSpPr>
          <p:nvPr/>
        </p:nvCxnSpPr>
        <p:spPr>
          <a:xfrm>
            <a:off x="4283968" y="2867744"/>
            <a:ext cx="720080" cy="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8" name="17 Conector recto de flecha"/>
          <p:cNvCxnSpPr>
            <a:endCxn id="4" idx="1"/>
          </p:cNvCxnSpPr>
          <p:nvPr/>
        </p:nvCxnSpPr>
        <p:spPr>
          <a:xfrm flipV="1">
            <a:off x="4283967" y="3572466"/>
            <a:ext cx="720080" cy="1389"/>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19 CuadroTexto"/>
          <p:cNvSpPr txBox="1"/>
          <p:nvPr/>
        </p:nvSpPr>
        <p:spPr>
          <a:xfrm>
            <a:off x="611560" y="404664"/>
            <a:ext cx="4824536" cy="523220"/>
          </a:xfrm>
          <a:prstGeom prst="rect">
            <a:avLst/>
          </a:prstGeom>
          <a:noFill/>
        </p:spPr>
        <p:txBody>
          <a:bodyPr wrap="square" rtlCol="0">
            <a:spAutoFit/>
          </a:bodyPr>
          <a:lstStyle/>
          <a:p>
            <a:r>
              <a:rPr lang="es-CO"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PANTALLA GRAFICA</a:t>
            </a:r>
            <a:endParaRPr lang="es-CO"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cxnSp>
        <p:nvCxnSpPr>
          <p:cNvPr id="21" name="20 Conector angular"/>
          <p:cNvCxnSpPr/>
          <p:nvPr/>
        </p:nvCxnSpPr>
        <p:spPr>
          <a:xfrm>
            <a:off x="5364088" y="3825816"/>
            <a:ext cx="1332146" cy="454546"/>
          </a:xfrm>
          <a:prstGeom prst="bentConnector3">
            <a:avLst>
              <a:gd name="adj1" fmla="val 101481"/>
            </a:avLst>
          </a:prstGeom>
        </p:spPr>
        <p:style>
          <a:lnRef idx="3">
            <a:schemeClr val="accent1"/>
          </a:lnRef>
          <a:fillRef idx="0">
            <a:schemeClr val="accent1"/>
          </a:fillRef>
          <a:effectRef idx="2">
            <a:schemeClr val="accent1"/>
          </a:effectRef>
          <a:fontRef idx="minor">
            <a:schemeClr val="tx1"/>
          </a:fontRef>
        </p:style>
      </p:cxnSp>
      <p:cxnSp>
        <p:nvCxnSpPr>
          <p:cNvPr id="22" name="21 Conector angular"/>
          <p:cNvCxnSpPr/>
          <p:nvPr/>
        </p:nvCxnSpPr>
        <p:spPr>
          <a:xfrm flipV="1">
            <a:off x="5436051" y="4280362"/>
            <a:ext cx="1260184" cy="711083"/>
          </a:xfrm>
          <a:prstGeom prst="bentConnector3">
            <a:avLst>
              <a:gd name="adj1" fmla="val 101829"/>
            </a:avLst>
          </a:prstGeom>
        </p:spPr>
        <p:style>
          <a:lnRef idx="3">
            <a:schemeClr val="accent1"/>
          </a:lnRef>
          <a:fillRef idx="0">
            <a:schemeClr val="accent1"/>
          </a:fillRef>
          <a:effectRef idx="2">
            <a:schemeClr val="accent1"/>
          </a:effectRef>
          <a:fontRef idx="minor">
            <a:schemeClr val="tx1"/>
          </a:fontRef>
        </p:style>
      </p:cxnSp>
      <p:cxnSp>
        <p:nvCxnSpPr>
          <p:cNvPr id="23" name="22 Conector angular"/>
          <p:cNvCxnSpPr>
            <a:endCxn id="5" idx="0"/>
          </p:cNvCxnSpPr>
          <p:nvPr/>
        </p:nvCxnSpPr>
        <p:spPr>
          <a:xfrm rot="16200000" flipH="1">
            <a:off x="6365833" y="4610765"/>
            <a:ext cx="876828" cy="216025"/>
          </a:xfrm>
          <a:prstGeom prst="bentConnector3">
            <a:avLst>
              <a:gd name="adj1" fmla="val 1582"/>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54999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491183" y="1047750"/>
            <a:ext cx="5246298" cy="5117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384566" y="408420"/>
            <a:ext cx="4824536" cy="523220"/>
          </a:xfrm>
          <a:prstGeom prst="rect">
            <a:avLst/>
          </a:prstGeom>
          <a:noFill/>
        </p:spPr>
        <p:txBody>
          <a:bodyPr wrap="square" rtlCol="0">
            <a:spAutoFit/>
          </a:bodyPr>
          <a:lstStyle/>
          <a:p>
            <a:r>
              <a:rPr lang="es-CO" sz="27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DISEÑO DEL MUÑEQUITO</a:t>
            </a:r>
            <a:endParaRPr lang="es-CO" sz="27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4" name="3 CuadroTexto"/>
          <p:cNvSpPr txBox="1"/>
          <p:nvPr/>
        </p:nvSpPr>
        <p:spPr>
          <a:xfrm>
            <a:off x="5184067" y="1286611"/>
            <a:ext cx="3264187"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El muñequito solo se ira armando  si fallas una letra y el mensaje de perdedor en la pantalla grafica aparecerá al fallar los 5 intentos limites y te mostrara la palabra correcta</a:t>
            </a:r>
            <a:endParaRPr lang="es-CO" sz="1200" b="1" dirty="0"/>
          </a:p>
        </p:txBody>
      </p:sp>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580112" y="2708920"/>
            <a:ext cx="2472099"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9542947"/>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4"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11560" y="836712"/>
            <a:ext cx="7344816"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6 CuadroTexto"/>
          <p:cNvSpPr txBox="1"/>
          <p:nvPr/>
        </p:nvSpPr>
        <p:spPr>
          <a:xfrm>
            <a:off x="4355976" y="5013176"/>
            <a:ext cx="420029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Se ingresan las palabras directamente en el programa y se le asigna un código se busca de manera aleatoria por código y se llama la palabra se saca del vector y se convierte en un char de texto y se le hace el conteo de las letras para así saber de cuantas letras es y mandarla a la función juegoAhorcado();</a:t>
            </a:r>
            <a:endParaRPr lang="es-CO" sz="1200" b="1" dirty="0"/>
          </a:p>
        </p:txBody>
      </p:sp>
      <p:sp>
        <p:nvSpPr>
          <p:cNvPr id="8" name="7 CuadroTexto"/>
          <p:cNvSpPr txBox="1"/>
          <p:nvPr/>
        </p:nvSpPr>
        <p:spPr>
          <a:xfrm>
            <a:off x="3851920" y="3158909"/>
            <a:ext cx="3384375"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Aleatoriedad de las palabras directas</a:t>
            </a:r>
            <a:endParaRPr lang="es-CO" sz="1200" b="1" dirty="0"/>
          </a:p>
        </p:txBody>
      </p:sp>
      <p:cxnSp>
        <p:nvCxnSpPr>
          <p:cNvPr id="9" name="8 Conector angular"/>
          <p:cNvCxnSpPr/>
          <p:nvPr/>
        </p:nvCxnSpPr>
        <p:spPr>
          <a:xfrm rot="16200000" flipH="1">
            <a:off x="2549564" y="2499108"/>
            <a:ext cx="804513" cy="792088"/>
          </a:xfrm>
          <a:prstGeom prst="bentConnector3">
            <a:avLst>
              <a:gd name="adj1" fmla="val -38"/>
            </a:avLst>
          </a:prstGeom>
        </p:spPr>
        <p:style>
          <a:lnRef idx="3">
            <a:schemeClr val="accent1"/>
          </a:lnRef>
          <a:fillRef idx="0">
            <a:schemeClr val="accent1"/>
          </a:fillRef>
          <a:effectRef idx="2">
            <a:schemeClr val="accent1"/>
          </a:effectRef>
          <a:fontRef idx="minor">
            <a:schemeClr val="tx1"/>
          </a:fontRef>
        </p:style>
      </p:cxnSp>
      <p:cxnSp>
        <p:nvCxnSpPr>
          <p:cNvPr id="10" name="9 Conector angular"/>
          <p:cNvCxnSpPr/>
          <p:nvPr/>
        </p:nvCxnSpPr>
        <p:spPr>
          <a:xfrm flipV="1">
            <a:off x="1691680" y="3297409"/>
            <a:ext cx="1656184" cy="995688"/>
          </a:xfrm>
          <a:prstGeom prst="bentConnector3">
            <a:avLst>
              <a:gd name="adj1" fmla="val 100035"/>
            </a:avLst>
          </a:prstGeom>
        </p:spPr>
        <p:style>
          <a:lnRef idx="3">
            <a:schemeClr val="accent1"/>
          </a:lnRef>
          <a:fillRef idx="0">
            <a:schemeClr val="accent1"/>
          </a:fillRef>
          <a:effectRef idx="2">
            <a:schemeClr val="accent1"/>
          </a:effectRef>
          <a:fontRef idx="minor">
            <a:schemeClr val="tx1"/>
          </a:fontRef>
        </p:style>
      </p:cxnSp>
      <p:cxnSp>
        <p:nvCxnSpPr>
          <p:cNvPr id="16" name="15 Conector recto de flecha"/>
          <p:cNvCxnSpPr>
            <a:endCxn id="8" idx="1"/>
          </p:cNvCxnSpPr>
          <p:nvPr/>
        </p:nvCxnSpPr>
        <p:spPr>
          <a:xfrm>
            <a:off x="3347865" y="3297409"/>
            <a:ext cx="504055"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3" name="22 CuadroTexto"/>
          <p:cNvSpPr txBox="1"/>
          <p:nvPr/>
        </p:nvSpPr>
        <p:spPr>
          <a:xfrm>
            <a:off x="107504" y="313492"/>
            <a:ext cx="4824536" cy="523220"/>
          </a:xfrm>
          <a:prstGeom prst="rect">
            <a:avLst/>
          </a:prstGeom>
          <a:noFill/>
        </p:spPr>
        <p:txBody>
          <a:bodyPr wrap="square" rtlCol="0">
            <a:spAutoFit/>
          </a:bodyPr>
          <a:lstStyle/>
          <a:p>
            <a:pPr algn="ctr"/>
            <a:r>
              <a:rPr lang="es-CO" sz="27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PALABRAS DIRECTAS</a:t>
            </a:r>
            <a:endParaRPr lang="es-CO" sz="27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4" name="23 CuadroTexto"/>
          <p:cNvSpPr txBox="1"/>
          <p:nvPr/>
        </p:nvSpPr>
        <p:spPr>
          <a:xfrm>
            <a:off x="4139952" y="4016098"/>
            <a:ext cx="3888432"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Se llama la función de búsqueda secuencial y es la misma para la búsqueda por genero</a:t>
            </a:r>
            <a:endParaRPr lang="es-CO" sz="1200" b="1" dirty="0"/>
          </a:p>
        </p:txBody>
      </p:sp>
      <p:cxnSp>
        <p:nvCxnSpPr>
          <p:cNvPr id="19" name="18 Conector angular"/>
          <p:cNvCxnSpPr>
            <a:endCxn id="24" idx="1"/>
          </p:cNvCxnSpPr>
          <p:nvPr/>
        </p:nvCxnSpPr>
        <p:spPr>
          <a:xfrm flipV="1">
            <a:off x="3131840" y="4246931"/>
            <a:ext cx="1008112" cy="550221"/>
          </a:xfrm>
          <a:prstGeom prst="bentConnector3">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683158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39551" y="2852936"/>
            <a:ext cx="3865309"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37667" y="836712"/>
            <a:ext cx="6408712"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CuadroTexto"/>
          <p:cNvSpPr txBox="1"/>
          <p:nvPr/>
        </p:nvSpPr>
        <p:spPr>
          <a:xfrm>
            <a:off x="4860032" y="4699010"/>
            <a:ext cx="3746748" cy="175432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Se le asigna el nombre de los géneros se ingresa la cantidad de palabras que va llevar el vector del genero se le asigna un código a cada palabra se llama la función para la búsqueda aleatoria, se llama la función de búsqueda secuencial para buscarla por el código y llamar la palabra convertirla a char texto y hacerle el conteo de las letras y mandarla a la función juegoAhorcado();</a:t>
            </a:r>
            <a:endParaRPr lang="es-CO" sz="1200" b="1" dirty="0"/>
          </a:p>
        </p:txBody>
      </p:sp>
      <p:cxnSp>
        <p:nvCxnSpPr>
          <p:cNvPr id="22" name="21 Conector angular"/>
          <p:cNvCxnSpPr/>
          <p:nvPr/>
        </p:nvCxnSpPr>
        <p:spPr>
          <a:xfrm rot="10800000" flipV="1">
            <a:off x="2627784" y="1376768"/>
            <a:ext cx="2736304" cy="1548176"/>
          </a:xfrm>
          <a:prstGeom prst="bentConnector3">
            <a:avLst>
              <a:gd name="adj1" fmla="val 9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5" name="24 Conector recto de flecha"/>
          <p:cNvCxnSpPr/>
          <p:nvPr/>
        </p:nvCxnSpPr>
        <p:spPr>
          <a:xfrm flipH="1">
            <a:off x="2118766" y="1376768"/>
            <a:ext cx="3245322"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5" name="34 Conector angular"/>
          <p:cNvCxnSpPr/>
          <p:nvPr/>
        </p:nvCxnSpPr>
        <p:spPr>
          <a:xfrm rot="5400000">
            <a:off x="2433952" y="3163160"/>
            <a:ext cx="3772040" cy="504056"/>
          </a:xfrm>
          <a:prstGeom prst="bentConnector3">
            <a:avLst>
              <a:gd name="adj1" fmla="val 100057"/>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6" name="35 Conector recto de flecha"/>
          <p:cNvCxnSpPr/>
          <p:nvPr/>
        </p:nvCxnSpPr>
        <p:spPr>
          <a:xfrm flipH="1">
            <a:off x="3126878" y="1529168"/>
            <a:ext cx="1445122"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5" name="44 Conector recto de flecha"/>
          <p:cNvCxnSpPr>
            <a:endCxn id="47" idx="1"/>
          </p:cNvCxnSpPr>
          <p:nvPr/>
        </p:nvCxnSpPr>
        <p:spPr>
          <a:xfrm flipV="1">
            <a:off x="4572000" y="3305770"/>
            <a:ext cx="1244116" cy="69656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47" name="46 CuadroTexto"/>
          <p:cNvSpPr txBox="1"/>
          <p:nvPr/>
        </p:nvSpPr>
        <p:spPr>
          <a:xfrm>
            <a:off x="5816116" y="2890271"/>
            <a:ext cx="257304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Estas funciones son utilizadas para todos los géneros de palabras de la misma manera que están implementadas aquí  </a:t>
            </a:r>
            <a:endParaRPr lang="es-CO" sz="1200" b="1" dirty="0"/>
          </a:p>
        </p:txBody>
      </p:sp>
      <p:cxnSp>
        <p:nvCxnSpPr>
          <p:cNvPr id="48" name="47 Conector recto de flecha"/>
          <p:cNvCxnSpPr>
            <a:endCxn id="47" idx="1"/>
          </p:cNvCxnSpPr>
          <p:nvPr/>
        </p:nvCxnSpPr>
        <p:spPr>
          <a:xfrm>
            <a:off x="5364088" y="2493357"/>
            <a:ext cx="452028" cy="81241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3" name="52 CuadroTexto"/>
          <p:cNvSpPr txBox="1"/>
          <p:nvPr/>
        </p:nvSpPr>
        <p:spPr>
          <a:xfrm>
            <a:off x="107504" y="313492"/>
            <a:ext cx="4824536" cy="523220"/>
          </a:xfrm>
          <a:prstGeom prst="rect">
            <a:avLst/>
          </a:prstGeom>
          <a:noFill/>
        </p:spPr>
        <p:txBody>
          <a:bodyPr wrap="square" rtlCol="0">
            <a:spAutoFit/>
          </a:bodyPr>
          <a:lstStyle/>
          <a:p>
            <a:pPr algn="ctr"/>
            <a:r>
              <a:rPr lang="es-CO" sz="27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PALABRAS POR GENERO</a:t>
            </a:r>
            <a:endParaRPr lang="es-CO" sz="27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30474018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97202" y="476672"/>
            <a:ext cx="4854536" cy="507831"/>
          </a:xfrm>
          <a:prstGeom prst="rect">
            <a:avLst/>
          </a:prstGeom>
          <a:noFill/>
        </p:spPr>
        <p:txBody>
          <a:bodyPr wrap="square" rtlCol="0">
            <a:spAutoFit/>
          </a:bodyPr>
          <a:lstStyle/>
          <a:p>
            <a:pPr algn="ctr"/>
            <a:r>
              <a:rPr lang="es-CO" sz="27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PUNTAJE</a:t>
            </a:r>
            <a:endParaRPr lang="es-CO" sz="27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8197"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499810" y="1052736"/>
            <a:ext cx="5152310" cy="5433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CuadroTexto"/>
          <p:cNvSpPr txBox="1"/>
          <p:nvPr/>
        </p:nvSpPr>
        <p:spPr>
          <a:xfrm>
            <a:off x="4572000" y="1268760"/>
            <a:ext cx="3264187"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Leemos el archivo para actualizar los puntajes se guardan en el vector y luego se ordenan de mayor a menor  se imprime el puntaje mas alto y se guarda en el archivo creado después se lee y se imprime solo se imprimirán 5 puntajes</a:t>
            </a:r>
            <a:endParaRPr lang="es-CO" sz="1200" b="1" dirty="0"/>
          </a:p>
        </p:txBody>
      </p:sp>
      <p:pic>
        <p:nvPicPr>
          <p:cNvPr id="8198"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716016" y="3237915"/>
            <a:ext cx="3861882" cy="242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09052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10811" y="692696"/>
            <a:ext cx="4781269" cy="2323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4860032" y="1484784"/>
            <a:ext cx="3264187"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ingresamos los primeros 5 puntajes en el archivo</a:t>
            </a:r>
            <a:endParaRPr lang="es-CO" sz="1200" b="1" dirty="0"/>
          </a:p>
        </p:txBody>
      </p:sp>
      <p:pic>
        <p:nvPicPr>
          <p:cNvPr id="921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10811" y="3068960"/>
            <a:ext cx="5717373" cy="34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4542475" y="4290558"/>
            <a:ext cx="2215134"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Esta parte es para actualizar  los puntajes</a:t>
            </a:r>
            <a:endParaRPr lang="es-CO" sz="1200" b="1" dirty="0"/>
          </a:p>
        </p:txBody>
      </p:sp>
      <p:sp>
        <p:nvSpPr>
          <p:cNvPr id="6" name="5 CuadroTexto"/>
          <p:cNvSpPr txBox="1"/>
          <p:nvPr/>
        </p:nvSpPr>
        <p:spPr>
          <a:xfrm>
            <a:off x="5051251" y="6025792"/>
            <a:ext cx="3264187"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Imprimimos el contenido del archivo</a:t>
            </a:r>
            <a:endParaRPr lang="es-CO" sz="1200" b="1" dirty="0"/>
          </a:p>
        </p:txBody>
      </p:sp>
      <p:cxnSp>
        <p:nvCxnSpPr>
          <p:cNvPr id="7" name="6 Conector angular"/>
          <p:cNvCxnSpPr/>
          <p:nvPr/>
        </p:nvCxnSpPr>
        <p:spPr>
          <a:xfrm>
            <a:off x="3419872" y="4365104"/>
            <a:ext cx="432048" cy="312574"/>
          </a:xfrm>
          <a:prstGeom prst="bentConnector3">
            <a:avLst>
              <a:gd name="adj1" fmla="val 107320"/>
            </a:avLst>
          </a:prstGeom>
        </p:spPr>
        <p:style>
          <a:lnRef idx="3">
            <a:schemeClr val="accent1"/>
          </a:lnRef>
          <a:fillRef idx="0">
            <a:schemeClr val="accent1"/>
          </a:fillRef>
          <a:effectRef idx="2">
            <a:schemeClr val="accent1"/>
          </a:effectRef>
          <a:fontRef idx="minor">
            <a:schemeClr val="tx1"/>
          </a:fontRef>
        </p:style>
      </p:cxnSp>
      <p:cxnSp>
        <p:nvCxnSpPr>
          <p:cNvPr id="10" name="9 Conector angular"/>
          <p:cNvCxnSpPr/>
          <p:nvPr/>
        </p:nvCxnSpPr>
        <p:spPr>
          <a:xfrm flipV="1">
            <a:off x="3419872" y="4677678"/>
            <a:ext cx="432048" cy="335498"/>
          </a:xfrm>
          <a:prstGeom prst="bentConnector3">
            <a:avLst>
              <a:gd name="adj1" fmla="val 107320"/>
            </a:avLst>
          </a:prstGeom>
        </p:spPr>
        <p:style>
          <a:lnRef idx="3">
            <a:schemeClr val="accent1"/>
          </a:lnRef>
          <a:fillRef idx="0">
            <a:schemeClr val="accent1"/>
          </a:fillRef>
          <a:effectRef idx="2">
            <a:schemeClr val="accent1"/>
          </a:effectRef>
          <a:fontRef idx="minor">
            <a:schemeClr val="tx1"/>
          </a:fontRef>
        </p:style>
      </p:cxnSp>
      <p:cxnSp>
        <p:nvCxnSpPr>
          <p:cNvPr id="15" name="14 Conector recto de flecha"/>
          <p:cNvCxnSpPr>
            <a:endCxn id="5" idx="1"/>
          </p:cNvCxnSpPr>
          <p:nvPr/>
        </p:nvCxnSpPr>
        <p:spPr>
          <a:xfrm flipV="1">
            <a:off x="3883496" y="4521391"/>
            <a:ext cx="658979" cy="15628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5" name="34 Conector angular"/>
          <p:cNvCxnSpPr/>
          <p:nvPr/>
        </p:nvCxnSpPr>
        <p:spPr>
          <a:xfrm>
            <a:off x="5868144" y="5015830"/>
            <a:ext cx="623981" cy="429394"/>
          </a:xfrm>
          <a:prstGeom prst="bentConnector3">
            <a:avLst>
              <a:gd name="adj1" fmla="val 98848"/>
            </a:avLst>
          </a:prstGeom>
        </p:spPr>
        <p:style>
          <a:lnRef idx="3">
            <a:schemeClr val="accent1"/>
          </a:lnRef>
          <a:fillRef idx="0">
            <a:schemeClr val="accent1"/>
          </a:fillRef>
          <a:effectRef idx="2">
            <a:schemeClr val="accent1"/>
          </a:effectRef>
          <a:fontRef idx="minor">
            <a:schemeClr val="tx1"/>
          </a:fontRef>
        </p:style>
      </p:cxnSp>
      <p:cxnSp>
        <p:nvCxnSpPr>
          <p:cNvPr id="36" name="35 Conector angular"/>
          <p:cNvCxnSpPr/>
          <p:nvPr/>
        </p:nvCxnSpPr>
        <p:spPr>
          <a:xfrm flipV="1">
            <a:off x="5868144" y="5445226"/>
            <a:ext cx="623981" cy="516918"/>
          </a:xfrm>
          <a:prstGeom prst="bentConnector3">
            <a:avLst>
              <a:gd name="adj1" fmla="val 100374"/>
            </a:avLst>
          </a:prstGeom>
        </p:spPr>
        <p:style>
          <a:lnRef idx="3">
            <a:schemeClr val="accent1"/>
          </a:lnRef>
          <a:fillRef idx="0">
            <a:schemeClr val="accent1"/>
          </a:fillRef>
          <a:effectRef idx="2">
            <a:schemeClr val="accent1"/>
          </a:effectRef>
          <a:fontRef idx="minor">
            <a:schemeClr val="tx1"/>
          </a:fontRef>
        </p:style>
      </p:cxnSp>
      <p:cxnSp>
        <p:nvCxnSpPr>
          <p:cNvPr id="9223" name="9222 Conector angular"/>
          <p:cNvCxnSpPr>
            <a:endCxn id="6" idx="0"/>
          </p:cNvCxnSpPr>
          <p:nvPr/>
        </p:nvCxnSpPr>
        <p:spPr>
          <a:xfrm rot="16200000" flipH="1">
            <a:off x="6297451" y="5639898"/>
            <a:ext cx="580568" cy="191220"/>
          </a:xfrm>
          <a:prstGeom prst="bentConnector3">
            <a:avLst>
              <a:gd name="adj1" fmla="val 2422"/>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9" name="48 Conector angular"/>
          <p:cNvCxnSpPr/>
          <p:nvPr/>
        </p:nvCxnSpPr>
        <p:spPr>
          <a:xfrm>
            <a:off x="3011915" y="1476561"/>
            <a:ext cx="623981" cy="429394"/>
          </a:xfrm>
          <a:prstGeom prst="bentConnector3">
            <a:avLst>
              <a:gd name="adj1" fmla="val 103428"/>
            </a:avLst>
          </a:prstGeom>
        </p:spPr>
        <p:style>
          <a:lnRef idx="3">
            <a:schemeClr val="accent1"/>
          </a:lnRef>
          <a:fillRef idx="0">
            <a:schemeClr val="accent1"/>
          </a:fillRef>
          <a:effectRef idx="2">
            <a:schemeClr val="accent1"/>
          </a:effectRef>
          <a:fontRef idx="minor">
            <a:schemeClr val="tx1"/>
          </a:fontRef>
        </p:style>
      </p:cxnSp>
      <p:cxnSp>
        <p:nvCxnSpPr>
          <p:cNvPr id="50" name="49 Conector angular"/>
          <p:cNvCxnSpPr/>
          <p:nvPr/>
        </p:nvCxnSpPr>
        <p:spPr>
          <a:xfrm flipV="1">
            <a:off x="3011915" y="1905957"/>
            <a:ext cx="623981" cy="516918"/>
          </a:xfrm>
          <a:prstGeom prst="bentConnector3">
            <a:avLst>
              <a:gd name="adj1" fmla="val 101901"/>
            </a:avLst>
          </a:prstGeom>
        </p:spPr>
        <p:style>
          <a:lnRef idx="3">
            <a:schemeClr val="accent1"/>
          </a:lnRef>
          <a:fillRef idx="0">
            <a:schemeClr val="accent1"/>
          </a:fillRef>
          <a:effectRef idx="2">
            <a:schemeClr val="accent1"/>
          </a:effectRef>
          <a:fontRef idx="minor">
            <a:schemeClr val="tx1"/>
          </a:fontRef>
        </p:style>
      </p:cxnSp>
      <p:cxnSp>
        <p:nvCxnSpPr>
          <p:cNvPr id="51" name="50 Conector angular"/>
          <p:cNvCxnSpPr>
            <a:endCxn id="3" idx="1"/>
          </p:cNvCxnSpPr>
          <p:nvPr/>
        </p:nvCxnSpPr>
        <p:spPr>
          <a:xfrm flipV="1">
            <a:off x="3635896" y="1715617"/>
            <a:ext cx="1224136" cy="190339"/>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
        <p:nvSpPr>
          <p:cNvPr id="61" name="60 CuadroTexto"/>
          <p:cNvSpPr txBox="1"/>
          <p:nvPr/>
        </p:nvSpPr>
        <p:spPr>
          <a:xfrm>
            <a:off x="62995" y="290738"/>
            <a:ext cx="4854536" cy="369332"/>
          </a:xfrm>
          <a:prstGeom prst="rect">
            <a:avLst/>
          </a:prstGeom>
          <a:noFill/>
        </p:spPr>
        <p:txBody>
          <a:bodyPr wrap="square" rtlCol="0">
            <a:spAutoFit/>
          </a:bodyPr>
          <a:lstStyle/>
          <a:p>
            <a:pPr algn="ctr"/>
            <a:r>
              <a:rPr lang="es-CO"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ABRIR Y LEER PUNTAJE DEL ARCHIVO</a:t>
            </a:r>
            <a:endParaRPr lang="es-CO"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62" name="61 CuadroTexto"/>
          <p:cNvSpPr txBox="1"/>
          <p:nvPr/>
        </p:nvSpPr>
        <p:spPr>
          <a:xfrm>
            <a:off x="4955641" y="798569"/>
            <a:ext cx="3264187"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Creamos el archivo</a:t>
            </a:r>
            <a:endParaRPr lang="es-CO" sz="1200" b="1" dirty="0"/>
          </a:p>
        </p:txBody>
      </p:sp>
      <p:cxnSp>
        <p:nvCxnSpPr>
          <p:cNvPr id="63" name="62 Conector angular"/>
          <p:cNvCxnSpPr>
            <a:endCxn id="62" idx="1"/>
          </p:cNvCxnSpPr>
          <p:nvPr/>
        </p:nvCxnSpPr>
        <p:spPr>
          <a:xfrm flipV="1">
            <a:off x="2901445" y="937069"/>
            <a:ext cx="2054196" cy="233669"/>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83240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55080" y="840488"/>
            <a:ext cx="8049368" cy="566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107504" y="344469"/>
            <a:ext cx="4854536" cy="461665"/>
          </a:xfrm>
          <a:prstGeom prst="rect">
            <a:avLst/>
          </a:prstGeom>
          <a:noFill/>
        </p:spPr>
        <p:txBody>
          <a:bodyPr wrap="square" rtlCol="0">
            <a:spAutoFit/>
          </a:bodyPr>
          <a:lstStyle/>
          <a:p>
            <a:pPr algn="ctr"/>
            <a:r>
              <a:rPr lang="es-CO" sz="2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PERDEDOR FIN DEL JUEGO</a:t>
            </a:r>
            <a:endParaRPr lang="es-CO"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4" name="3 CuadroTexto"/>
          <p:cNvSpPr txBox="1"/>
          <p:nvPr/>
        </p:nvSpPr>
        <p:spPr>
          <a:xfrm>
            <a:off x="4489674" y="5303004"/>
            <a:ext cx="3312368"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Si pasas de 3 partidas  sin a ver perdido ni una ves  se reducirán las vidas a dos si pasas de 6 partidas se reducirán a 1 vida</a:t>
            </a:r>
          </a:p>
          <a:p>
            <a:pPr algn="ctr"/>
            <a:r>
              <a:rPr lang="es-CO" sz="1200" b="1" dirty="0" smtClean="0"/>
              <a:t>Con esto se aumentara la dificultad a medida que juegas</a:t>
            </a:r>
            <a:endParaRPr lang="es-CO" sz="1200" b="1" dirty="0"/>
          </a:p>
        </p:txBody>
      </p:sp>
      <p:sp>
        <p:nvSpPr>
          <p:cNvPr id="6" name="5 CuadroTexto"/>
          <p:cNvSpPr txBox="1"/>
          <p:nvPr/>
        </p:nvSpPr>
        <p:spPr>
          <a:xfrm>
            <a:off x="899592" y="1124744"/>
            <a:ext cx="288032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CO" sz="1200" b="1" dirty="0" smtClean="0"/>
              <a:t>Si pierdes mas de 3 veces perderás el juego y te enviara a fin del juego mostrara el puntaje actual lo actualizara y los mostrara, después te da la opción de elegir si reiniciar el juego salir</a:t>
            </a:r>
            <a:endParaRPr lang="es-CO" sz="1200" b="1" dirty="0"/>
          </a:p>
        </p:txBody>
      </p:sp>
      <p:pic>
        <p:nvPicPr>
          <p:cNvPr id="10244"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99592" y="2325073"/>
            <a:ext cx="2880320" cy="232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656953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84313" y="1472590"/>
            <a:ext cx="2592288" cy="2703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467544" y="764704"/>
            <a:ext cx="8208912" cy="707886"/>
          </a:xfrm>
          <a:prstGeom prst="rect">
            <a:avLst/>
          </a:prstGeom>
          <a:noFill/>
        </p:spPr>
        <p:txBody>
          <a:bodyPr wrap="square" rtlCol="0">
            <a:spAutoFit/>
          </a:bodyPr>
          <a:lstStyle/>
          <a:p>
            <a:pPr algn="ctr"/>
            <a:r>
              <a:rPr lang="es-CO"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VISTAS DE PANTALLA GRAFICA</a:t>
            </a:r>
            <a:endParaRPr lang="es-CO"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1126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984914" y="1481147"/>
            <a:ext cx="2592288" cy="2686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3274311" y="1481147"/>
            <a:ext cx="2595377" cy="2686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829948" y="4551982"/>
            <a:ext cx="2101017" cy="1877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3356382" y="4556745"/>
            <a:ext cx="2473286" cy="1902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6080906" y="4556745"/>
            <a:ext cx="2400299" cy="1872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2992892" y="4156439"/>
            <a:ext cx="3200267" cy="461665"/>
          </a:xfrm>
          <a:prstGeom prst="rect">
            <a:avLst/>
          </a:prstGeom>
          <a:noFill/>
        </p:spPr>
        <p:txBody>
          <a:bodyPr wrap="square" rtlCol="0">
            <a:spAutoFit/>
          </a:bodyPr>
          <a:lstStyle/>
          <a:p>
            <a:pPr algn="ctr"/>
            <a:r>
              <a:rPr lang="es-CO" sz="2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PANTALLA DEV C++</a:t>
            </a:r>
            <a:endParaRPr lang="es-CO"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148494470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67544" y="867689"/>
            <a:ext cx="4854536" cy="523220"/>
          </a:xfrm>
          <a:prstGeom prst="rect">
            <a:avLst/>
          </a:prstGeom>
          <a:noFill/>
        </p:spPr>
        <p:txBody>
          <a:bodyPr wrap="square" rtlCol="0">
            <a:spAutoFit/>
          </a:bodyPr>
          <a:lstStyle/>
          <a:p>
            <a:pPr algn="ctr"/>
            <a:r>
              <a:rPr lang="es-CO" sz="2800" b="1" i="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LECCIONES APRENDIDAS</a:t>
            </a:r>
            <a:endParaRPr lang="es-CO" sz="2800" b="1" i="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3" name="2 CuadroTexto"/>
          <p:cNvSpPr txBox="1"/>
          <p:nvPr/>
        </p:nvSpPr>
        <p:spPr>
          <a:xfrm>
            <a:off x="971600" y="2204864"/>
            <a:ext cx="6984776" cy="286232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Wingdings" pitchFamily="2" charset="2"/>
              <a:buChar char="Ø"/>
            </a:pPr>
            <a:r>
              <a:rPr lang="es-MX" b="1" i="1" dirty="0"/>
              <a:t>Con </a:t>
            </a:r>
            <a:r>
              <a:rPr lang="es-MX" b="1" i="1" dirty="0" smtClean="0"/>
              <a:t>esfuerzo, motivación y dedicación se </a:t>
            </a:r>
            <a:r>
              <a:rPr lang="es-MX" b="1" i="1" dirty="0"/>
              <a:t>puede alcanzar cualquier objetivo </a:t>
            </a:r>
            <a:r>
              <a:rPr lang="es-MX" b="1" i="1" dirty="0" smtClean="0"/>
              <a:t>planteado solo necesitas marcar la x en tu meta.</a:t>
            </a:r>
          </a:p>
          <a:p>
            <a:pPr marL="285750" indent="-285750">
              <a:buFont typeface="Wingdings" pitchFamily="2" charset="2"/>
              <a:buChar char="Ø"/>
            </a:pPr>
            <a:endParaRPr lang="es-MX" b="1" i="1" dirty="0"/>
          </a:p>
          <a:p>
            <a:pPr marL="285750" indent="-285750">
              <a:buFont typeface="Wingdings" pitchFamily="2" charset="2"/>
              <a:buChar char="Ø"/>
            </a:pPr>
            <a:r>
              <a:rPr lang="es-MX" b="1" i="1" dirty="0" smtClean="0"/>
              <a:t>Con </a:t>
            </a:r>
            <a:r>
              <a:rPr lang="es-MX" b="1" i="1" dirty="0"/>
              <a:t>la seguridad de que el error nos trae experiencia y esa misma experiencia nos hará ganadores.</a:t>
            </a:r>
          </a:p>
          <a:p>
            <a:pPr marL="285750" indent="-285750">
              <a:buFont typeface="Wingdings" pitchFamily="2" charset="2"/>
              <a:buChar char="Ø"/>
            </a:pPr>
            <a:endParaRPr lang="es-MX" b="1" i="1" dirty="0" smtClean="0"/>
          </a:p>
          <a:p>
            <a:pPr marL="285750" indent="-285750">
              <a:buFont typeface="Wingdings" pitchFamily="2" charset="2"/>
              <a:buChar char="Ø"/>
            </a:pPr>
            <a:r>
              <a:rPr lang="es-MX" b="1" i="1" dirty="0" smtClean="0"/>
              <a:t>Los </a:t>
            </a:r>
            <a:r>
              <a:rPr lang="es-MX" b="1" i="1" dirty="0"/>
              <a:t>alcances de la programación son los mismos alcances que tiene tu </a:t>
            </a:r>
            <a:r>
              <a:rPr lang="es-MX" b="1" i="1" dirty="0" smtClean="0"/>
              <a:t>imaginación.</a:t>
            </a:r>
            <a:endParaRPr lang="es-MX" b="1" i="1" dirty="0"/>
          </a:p>
          <a:p>
            <a:endParaRPr lang="es-MX" b="1" i="1" dirty="0"/>
          </a:p>
        </p:txBody>
      </p:sp>
      <p:sp>
        <p:nvSpPr>
          <p:cNvPr id="4" name="3 Rectángulo"/>
          <p:cNvSpPr/>
          <p:nvPr/>
        </p:nvSpPr>
        <p:spPr>
          <a:xfrm>
            <a:off x="1403648" y="5607903"/>
            <a:ext cx="612068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s-CO" dirty="0">
                <a:latin typeface="Script MT Bold" pitchFamily="66" charset="0"/>
              </a:rPr>
              <a:t>No es el más inteligente quien va adelante, sino el que se atreve</a:t>
            </a:r>
            <a:r>
              <a:rPr lang="es-CO" dirty="0" smtClean="0">
                <a:latin typeface="Script MT Bold" pitchFamily="66" charset="0"/>
              </a:rPr>
              <a:t>.</a:t>
            </a:r>
          </a:p>
          <a:p>
            <a:pPr algn="r"/>
            <a:r>
              <a:rPr lang="es-CO" dirty="0">
                <a:latin typeface="Script MT Bold" pitchFamily="66" charset="0"/>
              </a:rPr>
              <a:t>Robert Kiyosaki</a:t>
            </a:r>
          </a:p>
        </p:txBody>
      </p:sp>
    </p:spTree>
    <p:extLst>
      <p:ext uri="{BB962C8B-B14F-4D97-AF65-F5344CB8AC3E}">
        <p14:creationId xmlns:p14="http://schemas.microsoft.com/office/powerpoint/2010/main" val="28339109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827584" y="1340768"/>
            <a:ext cx="7599127"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11280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385</TotalTime>
  <Words>793</Words>
  <Application>Microsoft Office PowerPoint</Application>
  <PresentationFormat>Presentación en pantalla (4:3)</PresentationFormat>
  <Paragraphs>66</Paragraphs>
  <Slides>15</Slides>
  <Notes>0</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Austin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fabio</dc:creator>
  <cp:lastModifiedBy>fabio</cp:lastModifiedBy>
  <cp:revision>37</cp:revision>
  <dcterms:created xsi:type="dcterms:W3CDTF">2013-11-29T00:58:30Z</dcterms:created>
  <dcterms:modified xsi:type="dcterms:W3CDTF">2013-11-29T07:30:02Z</dcterms:modified>
</cp:coreProperties>
</file>